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10431" y="1828800"/>
            <a:ext cx="4370831" cy="3657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10431" y="1828800"/>
            <a:ext cx="43708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TRILHA DE CAPACITAÇÃO EM IA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28632" cy="71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4F8FF"/>
                </a:solidFill>
                <a:latin typeface="Calibri"/>
              </a:rPr>
              <a:t>Capacitação em </a:t>
            </a:r>
            <a:r>
              <a:rPr sz="4000" b="1" i="0">
                <a:solidFill>
                  <a:srgbClr val="6FF2FF"/>
                </a:solidFill>
                <a:latin typeface="Calibri"/>
              </a:rPr>
              <a:t>IA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33223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BD8F0"/>
                </a:solidFill>
                <a:latin typeface="Calibri"/>
              </a:rPr>
              <a:t>Fundamentos, Governança e Discernimento em IA Generativa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3904" y="3870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23 de julho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4F8FF"/>
                </a:solidFill>
                <a:latin typeface="Calibri"/>
              </a:rPr>
              <a:t>Faculdade Integrada de Santa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FA3C9"/>
                </a:solidFill>
                <a:latin typeface="Calibri"/>
              </a:rPr>
              <a:t>FISMA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QUEM CONDUZ A CAPACITAÇÃO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Facilitadores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5272887" cy="2577084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to Júlia Sant'Ann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57276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19" y="1572768"/>
            <a:ext cx="40841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Calibri"/>
              </a:rPr>
              <a:t>Júlia Sant'Anna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828800"/>
            <a:ext cx="4084167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6FF2FF"/>
                </a:solidFill>
                <a:latin typeface="Calibri"/>
              </a:rPr>
              <a:t>Analista de Sistemas e Negócios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2432303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39" y="2377439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Graduação em Engenharia Biomédica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688336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2633472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Pós-graduação em Liderança e Gestão em Tecnologia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944368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2889504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Analista de Sistemas e Negócios na Insi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3200400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3145536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Certificação Microsoft AI-900 (Azure AI Fundamentals)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3456432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39" y="3401568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Experiência prática em automação de processos e IA aplicada a rotinas de negócio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30752"/>
            <a:ext cx="4907127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FA3C9"/>
                </a:solidFill>
                <a:latin typeface="Calibri"/>
              </a:rPr>
              <a:t>linkedin.com/in/julia-souza-santanna · @ju.santanna.ia · (55) 99981-5948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1435608"/>
            <a:ext cx="5272887" cy="1808988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oto Carlos Sant'Ann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7" y="1572768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84567" y="1572768"/>
            <a:ext cx="40841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4F8FF"/>
                </a:solidFill>
                <a:latin typeface="Calibri"/>
              </a:rPr>
              <a:t>Carlos Sant'Anna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567" y="1828800"/>
            <a:ext cx="4084167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6FF2FF"/>
                </a:solidFill>
                <a:latin typeface="Calibri"/>
              </a:rPr>
              <a:t>Administrador · Professor · Mestre em Engenharia de Produção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2432303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4487" y="2377439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Formação em Custos de Serviços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1607" y="2688336"/>
            <a:ext cx="64008" cy="6400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4487" y="2633472"/>
            <a:ext cx="4724247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8F0"/>
                </a:solidFill>
                <a:latin typeface="Calibri"/>
              </a:rPr>
              <a:t>Especialista na Lei 14.133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607" y="2962656"/>
            <a:ext cx="4907127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FA3C9"/>
                </a:solidFill>
                <a:latin typeface="Calibri"/>
              </a:rPr>
              <a:t>@prof.carlossantanna · (55) 98422-2016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é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IA generativa?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categoria de IA capaz de criar conteúdo original — texto, imagem, áudio, vídeo ou código — a partir de um prompt em linguagem natural.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Diferença da IA tradicional: esta só analisa e classifica dados existentes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 IA generativa produz algo novo, que não existia antes daquela interação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Exemplo: o ChatGPT prevê, palavra por palavra, a continuação mais coerente do texto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1883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27019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Baseia-se em treinamento equivalente a décadas de leitura em qualquer área do conhecimento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— O que é IA generativa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Por que isso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muda a forma de trabalhar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que antes exigia horas de trabalho manual e várias ferramentas, hoje se resolve em segundos com um único comando em linguagem natural.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54124"/>
          <a:ext cx="109115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Antes (manual)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Agora (com IA generativa)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Tempo de conclusão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Longo (horas, dias)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Curto (segundos, minutos)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Ferramentas necessárias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Múltiplas, especializadas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Uma, com poucos comandos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Contexto de trabalho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Limitado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Amplo, com visualização integrada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— O que é IA generativa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Como funciona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por trás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18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REDES NEURAIS E TRANSFORMER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46504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Estruturas inspiradas, em termos gerais, no cérebro humano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Camadas de "neurônios" digitais aprendem padrões complexos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9631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8"/>
            <a:ext cx="506257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Arquitetura </a:t>
            </a:r>
            <a:r>
              <a:rPr sz="1250" b="1" i="0">
                <a:solidFill>
                  <a:srgbClr val="CBD8F0"/>
                </a:solidFill>
                <a:latin typeface="Calibri"/>
              </a:rPr>
              <a:t>transformer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: mecanismo de atenção identifica as partes mais relevantes do texto, mesmo distantes entre 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435608"/>
            <a:ext cx="5318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COMO OS LLMS SÃO TREINADOS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013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1746504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Pré-treinamento: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exposição a volume massivo de texto (livros, sites, código)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1488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9039" y="2093976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Ajuste supervisionado: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exemplos de perguntas e respostas ideais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49631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2441448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RLHF: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avaliadores humanos indicam as melhores respostas geradas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— O que é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Tipos de IA generativa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por que isso importa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Modelos de linguagem (LLMs)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ChatGPT, Claude e Gemini. Bilhões de parâmetros que preveem a próxima palavra mais provável dada a conversa até aquele ponto.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IMAGEM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Modelos de difusão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11226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DALL-E e Midjourney. Partem de ruído aleatório e refinam passo a passo até formar uma imagem coerente com o comando.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03576"/>
            <a:ext cx="109115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POR QUE IMPORTA PARA QUALQUER ÁREA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77896"/>
            <a:ext cx="1091153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 IA generativa atua sobre linguagem, raciocínio e produção de conteúdo — atividades centrais em qualquer disciplina, da engenharia às humanidades. Não exige familiaridade técnica prévia.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— O que é IA generativa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 analogia da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calculadora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GRUPO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Só calcular mais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Fez a mesma tarefa em menos tempo.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896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CBD8F0"/>
                </a:solidFill>
                <a:latin typeface="Calibri"/>
              </a:rPr>
              <a:t>Resultado: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eficiência operacional.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GRUPO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Entender melhor os problemas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11226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Usou o tempo livre para resolver problemas mais complexos.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3896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CBD8F0"/>
                </a:solidFill>
                <a:latin typeface="Calibri"/>
              </a:rPr>
              <a:t>Resultado: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evolução profissional.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68167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813303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Terceirização: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pedir, copiar, enviar sem ler — sem processar a informação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15639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60775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Só velocidade: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mais ágil em tarefas que já sabia — sem ganho cognitivo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3111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08247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Atrofia: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perda gradual da habilidade de fazer sozinho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— Ficar mais inteligente com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2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realmente significa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 ficar mais inteligente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É sair de cada interação sabendo algo que você não sabia antes, ou enxergando o problema por um ângulo novo.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Pedir conteúdo pronto = a IA só auxilia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Perguntar </a:t>
            </a:r>
            <a:r>
              <a:rPr sz="1250" b="0" i="1">
                <a:solidFill>
                  <a:srgbClr val="CBD8F0"/>
                </a:solidFill>
                <a:latin typeface="Calibri"/>
              </a:rPr>
              <a:t>por que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ela estruturou daquele jeito = a IA vira um tutor particular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Isso torna o profissional mais completo, em qualquer área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36748"/>
            <a:ext cx="10911535" cy="856488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36748"/>
            <a:ext cx="54864" cy="856488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101340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Efeito Dunning-Kruger aplicado à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3364991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Ao usar IA para algo que não dominamos, a confiança pode subir enquanto a competência permanece baixa — respostas fluentes dão falsa sensação de domínio.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— Ficar mais inteligente com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3 mudanças de postura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que fazem a diferença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Mude a pergunta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De "me dê a resposta" para "me explique o raciocínio".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Teste o que você sabe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185415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Explique um conceito e peça para a IA apontar falhas.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Peça novas perspectivas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185415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Simule a visão de especialistas diferentes.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499360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499360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66395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Regra de ouro: usar para acelerar o que já se compreende e para aprender o que ainda não se sabe — nunca para fingir que se sabe o que não se sabe.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— Ficar mais inteligente com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Glossário essencial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(parte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A porta de entrada: o app ou site com o qual você interage. É a camada visual, não a IA em 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Large Language Model: o "cérebro" treinado com bilhões de textos para gerar respostas.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 comando ou instrução, em linguagem natural, que inicia qualquer interação.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Unidade de processamento de texto. Em português, ≈ três quartos de uma palavra.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286000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2377440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Janela de 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2651760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A "memória" de curto prazo: quanto texto o modelo consegue lembrar numa mesma conversa.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— Vocabulário essencial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Glossário essencial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(parte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Alucinação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 erro confiante: informação inventada, apresentada com a mesma fluência de uma resposta correta.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Temperatura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Controle de criatividade: baixa gera respostas precisas; alta, mais criativas e imprevisíveis.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2704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01368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Ajuste fino: treinar um modelo genérico com vocabulário específico de um contexto.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Retrieval-Augmented Generation: a IA consulta documentos específicos antes de responder — base de Projects e Gems.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— Vocabulário essencial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11/121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Assistentes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vs.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 Agentes de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Assistente — "me ajude a fazer"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Pergunta e resposta. Consultivo, mas isolado: entrega a sugestão sem executar nada além disso.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896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CBD8F0"/>
                </a:solidFill>
                <a:latin typeface="Calibri"/>
              </a:rPr>
              <a:t>"Sugira três formas de explicar frações."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O professor escolhe e aplica.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Agente — "faça por mim"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11226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Autônomo e integrado a ferramentas: define os passos, acessa sistemas e executa ações.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3896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CBD8F0"/>
                </a:solidFill>
                <a:latin typeface="Calibri"/>
              </a:rPr>
              <a:t>"Monte um relatório dos alunos com média abaixo de 6."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O agente executa a sequência.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13303"/>
            <a:ext cx="109115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POR QUE A DISTINÇÃO IMPORTA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87623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Quanto mais autônoma a IA, maior a responsabilidade do professor de definir limites e revisar o resultado antes de usá-lo.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— Vocabulário essencial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12/121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As três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principais plataformas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4542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3454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Claude for Education para ensino superior: dados protegidos em ambiente controlado pela instituição, sem treino com conversas enviadas.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Forte em Projects e organização de contexto por disciplina.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545336"/>
            <a:ext cx="34542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1783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2112264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~900 milhões de usuários semanais em 2026 — maior familiaridade entre docentes.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255727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Integrações com Google Drive e Microsoft 365; Study Mode passo a passo.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7316" y="1545336"/>
            <a:ext cx="34542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1783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2112264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Integração nativa com Google Workspace: Classroom, Docs, Slides, Sheets, Gmail, Meet.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316" y="255727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Sem custo extra em contas Workspace for Education. Forte em documentos longos.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— Panorama de plataformas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13/121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cenário é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maior que três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Outras relevantes: Meta (Llama), Mistral AI, xAI (Grok), Amazon, DeepSeek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 posição de cada plataforma muda de mês em mês — não existe ranking fixo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site </a:t>
            </a:r>
            <a:r>
              <a:rPr sz="1250" b="1" i="0">
                <a:solidFill>
                  <a:srgbClr val="CBD8F0"/>
                </a:solidFill>
                <a:latin typeface="Calibri"/>
              </a:rPr>
              <a:t>artificialanalysis.ai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compara modelos em três eixos: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58796"/>
            <a:ext cx="310896" cy="3108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61132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Inteligência — qualidade das respostas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558796"/>
            <a:ext cx="310896" cy="3108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8698" y="2961132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Velocidade — tokens por segundo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2558796"/>
            <a:ext cx="310896" cy="3108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2961132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Preço — custo por milhão de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67456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Neste momento do curso, o foco é só o eixo de </a:t>
            </a:r>
            <a:r>
              <a:rPr sz="1250" b="1" i="0">
                <a:solidFill>
                  <a:srgbClr val="CBD8F0"/>
                </a:solidFill>
                <a:latin typeface="Calibri"/>
              </a:rPr>
              <a:t>inteligência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, para uso direto via interface de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— Panorama de plataformas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14/121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é uma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ponte entre um sistema (site, app, planilha) e a inteligência de um modelo de IA — sem passar pela interface de chat conhecida.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7833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4F8FF"/>
                </a:solidFill>
                <a:latin typeface="Calibri"/>
              </a:rPr>
              <a:t>Exemplo:</a:t>
            </a:r>
            <a:r>
              <a:rPr sz="1250" b="0" i="0">
                <a:solidFill>
                  <a:srgbClr val="F4F8FF"/>
                </a:solidFill>
                <a:latin typeface="Calibri"/>
              </a:rPr>
              <a:t> um sistema de triagem de exames médicos não faz upload direto no ChatGPT. Constrói-se uma interface própria, que consulta o modelo por trás dos bastidores, via API, a cada nova imagem recebida.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4244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É essa lógica que permite um sistema acadêmico da instituição conversar com um modelo de IA de forma integrada, sem chat separado.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— Panorama de plataformas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15/121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Critérios de escolha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a instituição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Integração: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Google Workspace ou Microsoft 365 já em uso na FISMA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Proteção de dados: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plano institucional que não usa dados para treinar modelos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85416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Curva de aprendizado: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intuitividade para quem nunca usou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7802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Tipo de tarefa: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redação → ChatGPT · documentos longos → Gemini · contexto por disciplina → 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2549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Custo institucional: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condições mudam com frequência, confirmar sempre com o fornecedor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82696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82696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3447288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Não existe "a melhor" plataforma — o critério é escolher a ferramenta certa para cada tarefa.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— Panorama de plataformas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16/121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5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Por que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padronizar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 o uso entre docentes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Hoje o uso de IA na FISMA é disperso: cada professor usa a ferramenta que quer, do jeito que aprendeu sozinho.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Desigualdade de acesso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Quem descobriu a ferramenta avança; quem não teve contato fica para trás.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Risco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25344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Fácil inserir informação sensível sem saber como é tratada.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Inconsistência de critério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Decisões opostas para a mesma situação, sem diretriz institucional.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5996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Padronizar não é obrigar a mesma ferramenta para todos — é estabelecer um piso comum do que é permitido, o que exige cuidado e o que não é aceitável.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— Governança de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17/121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Quem decide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o que uma diretriz responde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Governança de IA não deveria depender de um único professor — faz sentido ser conduzida pela coordenação pedagógica em conjunto com uma comissão de docentes de diferentes áreas.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4462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606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0384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Que informação pode ou não ser inserida em uma ferramenta de 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4462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203606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Autoria e transparência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2310384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Quando sinalizar material produzido com apoio de IA?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94462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203606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Ferramentas aprovadas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2310384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Existe lista institucional recomendada?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34996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643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Revisão humana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00756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Quando uma resposta de IA exige validação antes de chegar ao aluno?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— Governança de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18/121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Por que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personalizar 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Sem configuração prévia, toda conversa começa do zero — o professor reexplica ementa, padrão de correção e nível da turma a cada pergunta.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4604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É o equivalente a treinar um assistente novo todo 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26771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As três plataformas resolvem isso com um espaço persistente: instruções fixas e arquivos de referência que valem automaticamente em toda conversa daquele espaço.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— Configuração e personalização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19/121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mesmo conceito,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três nomes diferentes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35608"/>
          <a:ext cx="109115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Plataforma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Funcionalidade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Como funciona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Instruções + base de arquivos + conversas organizadas no espaço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Gems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Versão personalizada e reutilizável, até 10 arquivos — disponível no plano gratuito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Projects / Custom GPTs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Organiza conversas e arquivos; Custom GPTs cria assistente autônomo compartilhável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10712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nome muda, mas a lógica de uso para o docente é a mesma nas três plataformas.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— Configuração e personalização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20/121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6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Exemplo aplicado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e cuidados institucionais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Um professor cria um espaço por disciplina, alimentado com ementa, bibliografia, padrão de linguagem e questões já aplicadas.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4604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Qualquer pedido feito ali já parte com esse contexto — sem descrever tudo de novo a cada 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4864" cy="7833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267712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Atenção: esses arquivos ficam na conta pessoal do professor. Nunca incluir dados sensíveis e identificáveis de alunos (notas, laudos, informações pessoais) — apenas material de ensino.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— Configuração e personalização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21/121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7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Alucinações: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o erro confiante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IA gera informação incorreta com a mesma fluência e segurança de uma informação correta — difícil identificar só pela leitura.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Desconfiar do que parece "bom demais" ou muito conveniente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Pedir a fonte e verificar se ela existe de fato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Comparar a mesma pergunta entre plataformas diferentes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1883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27019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Fazer leitura lateral em fonte externa confiável antes de usar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84219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84219"/>
            <a:ext cx="54864" cy="5928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344881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Regra prática: todo fato específico (data, número, citação) que vá para um material didático exige verificação externa — não é opcional.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— Segurança, vieses e alucinações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22/121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7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Vieses: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de onde vêm e por que importam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modelo aprende padrões dos dados de treinamento — e reproduz, às vezes amplifica, desigualdades já existentes na sociedade.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Não é falha pontual: é característica estrutural de como esses sistemas aprendem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Aparece em sugestões de personalização enviesadas por grupo de alunos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Aparece em correções que aplicam critérios diferentes por estilo de escrita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1883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27019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Estudo em Educação &amp; Sociedade (2025) aponta vieses algorítmicos na avaliação acadêmica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84219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Não significa abandonar a IA na correção — significa nunca delegar a decisão final sem revisão humana.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— Segurança, vieses e alucinações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23/121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7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Segurança e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proteção de dados sensíveis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856488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35608"/>
            <a:ext cx="54864" cy="856488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600200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Regra prática mais segura: nunca combinar identificação de um aluno com dado sensível.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1863851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Em vez de "o aluno João tem TDAH", perguntar "como adaptar esta prova para um aluno com TDAH".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38400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 política de uso de dados varia por empresa e por plano — verificar sempre a política vigente antes de definir uma diretriz institucional.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— Segurança, vieses e alucinações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24/121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7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Caso real: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o vazamento de dados da Samsung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Abril de 2023 — engenheiros da Samsung usaram o ChatGPT para tarefas do dia a 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Código confidencial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Colou trecho de código-fonte para pedir ajuda a corrigir um bug.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Processo interno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Usou a ferramenta para otimizar identificação de chips defeituosos.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Reunião interna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25344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Transcreveu a gravação de uma reunião e pediu um resumo à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5996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E4CBFF"/>
                </a:solidFill>
                <a:latin typeface="Calibri"/>
              </a:rPr>
              <a:t>&lt;20 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46348"/>
            <a:ext cx="10911535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para três vazamentos distintos de informação confidencial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52671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52671"/>
            <a:ext cx="54864" cy="7833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4017263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 Samsung baniu IA generativa em dispositivos corporativos, com demissão como possível consequência. Nenhum engenheiro agiu de má-fé — só queriam ser mais produtivos.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— Segurança, vieses e alucinações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25/121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Outros desafios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técnicos e sociais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Custo ambiental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Treinar o GPT-3 consumiu ~1.287 MWh e gerou ~502 toneladas de CO₂. Data centers podem passar de 1.000 TWh até 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54533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Desinformação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874519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 mesma capacidade que gera rascunhos de aula permite textos, imagens e vídeos falsos convincentes, em escala inédita.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4120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3848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Propriedade intelectual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3032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Modelos treinados com obras de milhares de autores, sem consenso legal/ético sobre a quem pertence o crédito gerado.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484120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593848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Mercado de trabalho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9230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Profissões mudam à medida que a IA assume tarefas operacionais — requalificação é o diferencial.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— Segurança, vieses e alucinações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26/121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8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Já existem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regras concretas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, não só princípios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Out/2025 — USP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Publica resolução própria sobre uso de IA na produção acadêmica.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Mar/2026 — CNPq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Institui Política de Integridade na Atividade Científica — uso de IA deve ser informado em todas as etapas.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Abr/2026 — ANDIFES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185415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Lança guia nacional para o ensino superior.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67000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67000"/>
            <a:ext cx="54864" cy="59283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83159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Três princípios convergentes: autoria humana, transparência e responsabilidade. A FISMA ainda não tem diretriz própria — esse é objetivo do Tópico 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— Ética no uso profissional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27/121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8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Autoria humana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e transparência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PRINCÍPIO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A IA nunca assina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Raciocínio, interpretação e decisão final têm que ser do professor. Gerar material inteiro com um prompt e publicar sem revisão crítica não está alinhado ao princípio.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PRINCÍPIO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Sinalizar, não esconder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11226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Uso não declarado de IA para gerar conteúdo integral pode configurar falta de transparência acadêmica. O problema não é usar — é usar sem declarar.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— Ética no uso profissional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28/121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8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Responsabilidade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e dois contextos práticos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35608"/>
            <a:ext cx="54864" cy="5928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600200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Quem assina, responde: o professor é integralmente responsável por erros que a IA tenha gerado, mesmo sem ter percebido antes de usar.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7474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447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USO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222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Materiais didáticos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140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Slides, provas, apostilas: cuidado maior é a verificação de conteúdo.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17474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28447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USO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52222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Produção acadêmica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285140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Artigos, pesquisa: padrão mais rígido, com declaração formal de uso e autoria intelectual do pesquisador.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— Ética no uso profissional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29/121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 9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286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F8FF"/>
                </a:solidFill>
                <a:latin typeface="Calibri"/>
              </a:rPr>
              <a:t>Sicofania é a tendência de um modelo de IA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concordar com o usuário</a:t>
            </a:r>
            <a:r>
              <a:rPr sz="2400" b="1" i="0">
                <a:solidFill>
                  <a:srgbClr val="F4F8FF"/>
                </a:solidFill>
                <a:latin typeface="Calibri"/>
              </a:rPr>
              <a:t>, validar ideias mesmo quando estão erradas, e mudar de posição sob pressão só para parecer mais agradável.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6543" y="2560320"/>
            <a:ext cx="8046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BD8F0"/>
                </a:solidFill>
                <a:latin typeface="Calibri"/>
              </a:rPr>
              <a:t>É efeito colateral do próprio treinamento com feedback humano: avaliadores recompensam respostas que "soam bem" — e concordar soa melhor do que discordar.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927" y="32461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9927" y="3776472"/>
            <a:ext cx="329184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das vezes o modelo muda a resposta ao ouvir "você tem certeza?" — mesmo estando certo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— Efeito amplificador e sicofania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30/121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9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efeito amplificador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risco maior não é a IA errar — é a IA confirmar um erro que o próprio usuário já trazia.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Se o professor já está convencido de uma abordagem, a IA tende a reforçar, não questionar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Especialmente delicado quando o objetivo é pensar melhor, não confirmar o que já se pensava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Na pesquisa acadêmica, compromete o rigor: um assistente que corrobora hipóteses em vez de testá-las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— Efeito amplificador e sicofania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31/121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9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Como manter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postura crítica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Peça o contrário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"Quais os três maiores problemas desta avaliação?"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6543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6543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6543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Desconfie da concordância fácil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6543" y="2185415"/>
            <a:ext cx="2522143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É sinal de alerta, não confirmação.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Peça perspectivas divergentes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Riscos e contrapontos antes de seguir uma decisão.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471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9471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471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Não busque 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471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Evite perguntar "tem certeza?" esperando confirmação.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667000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667000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283159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Tratar a concordância da IA como ponto de partida para revisão — nunca como validação final, especialmente em decisões sobre a trajetória de um aluno.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— Efeito amplificador e sicofania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32/121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10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framework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Hype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risco institucional não é ficar para trás — é dispersar tempo perseguindo cada lançamento sem critério.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0092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Gatilho de inovação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4412"/>
            <a:ext cx="1962851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 lançamento que chama atenção.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251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7251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7251" y="2260092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Pico de expectativas infladas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7251" y="2534412"/>
            <a:ext cx="1962851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Entusiasmo supera as provas de valor.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4422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4422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4422" y="2260092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Vale da desilusão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2534412"/>
            <a:ext cx="1962851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 tecnologia não entrega o prometido.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593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593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2260092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Rampa de aprendizado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593" y="2534412"/>
            <a:ext cx="1962851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Casos de uso reais se consolidam.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8764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8764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8764" y="2260092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Platô de produtividade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8764" y="2534412"/>
            <a:ext cx="1962851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Parte de fato da rotina.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— Hype vs. tecnologia estrutural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33/121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10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Exemplo concreto: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agentes de IA, agora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relatório 2026 da Gartner posiciona os agentes de IA no pico de expectativas infladas.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4604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17%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14956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das organizações já implementaram agentes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784604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60%+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2314956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esperam implementar nos próximos dois 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1280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Por isso agentes de IA aplicados à docência ficam para a próxima edição da trilha — este módulo prioriza os fundamentos já consolidados.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— Hype vs. tecnologia estrutural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34/121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 10 DE 10 · 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Critérios práticos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e fechamento do módulo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Resolve um problema real e recorrente, ou só parece interessante?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Há uso sustentado por meses, ou é entusiasmo só do lançamento?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85416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É compatível com as diretrizes de governança já discutidas, ou exige exceções?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7802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ganho justifica o tempo de aprendizado necessário?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35224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EE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35224"/>
            <a:ext cx="54864" cy="78333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099816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Este módulo construiu o alicerce — definição, postura crítica, vocabulário, plataformas, governança, configuração, riscos, ética e discernimento — sobre o qual os Módulos 2 (engenharia de prompt) e 3 (produtividade com IA) vão construir.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— Hype vs. tecnologia estrutural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35/121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7731" y="1828800"/>
            <a:ext cx="1856231" cy="3657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7731" y="1828800"/>
            <a:ext cx="18562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MÓDULO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28632" cy="71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4F8FF"/>
                </a:solidFill>
                <a:latin typeface="Calibri"/>
              </a:rPr>
              <a:t>Módulo 2 · </a:t>
            </a:r>
            <a:r>
              <a:rPr sz="4000" b="1" i="0">
                <a:solidFill>
                  <a:srgbClr val="6FF2FF"/>
                </a:solidFill>
                <a:latin typeface="Calibri"/>
              </a:rPr>
              <a:t>Engenharia de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33223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BD8F0"/>
                </a:solidFill>
                <a:latin typeface="Calibri"/>
              </a:rPr>
              <a:t>A competência técnica central do curso: como estruturar instruções para que a IA entregue respostas melhores e mais alinhadas ao seu objetivo.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36/121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é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engenharia de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disciplina técnica que estuda como estruturar instruções para modelos de linguagem, de forma que eles entreguem respostas melhores e mais alinhadas ao objetivo de quem pergunta.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05584"/>
          <a:ext cx="109115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O que NÃO é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O que É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Natureza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Mágica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Estruturação de instruções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Abordagem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Apenas "perguntar bem"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Compreensão de como o modelo processa a informação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Método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Dicas aleatórias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Maximização de resultados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37/121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motor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probabilístico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18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COMO O MODELO PROCESSA SUA ENTRADA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46504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texto é convertido em </a:t>
            </a:r>
            <a:r>
              <a:rPr sz="1250" b="1" i="0">
                <a:solidFill>
                  <a:srgbClr val="CBD8F0"/>
                </a:solidFill>
                <a:latin typeface="Calibri"/>
              </a:rPr>
              <a:t>tokens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— fragmentos de palavras ou palavras inteiras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506257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modelo calcula, estatisticamente, qual token tem mais probabilidade de vir a seguir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7856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02992"/>
            <a:ext cx="506257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Input vago leva a um caminho genérico; input bem estruturado, a um caminho específico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435608"/>
            <a:ext cx="5318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JANELA DE CONTEXTO: VOLUME NÃO É VALOR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013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1746504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É a quantidade máxima de informação que o modelo processa de uma vez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1488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9039" y="2093976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Volume (dados brutos) é diferente de valor (relevância, informação essencial)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49631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2441448"/>
            <a:ext cx="506257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Prompt bem estruturado com só o essencial supera prompt longo e desorganizado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38/121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fator humano: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mesma ferramenta, resultados diferentes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mesma assinatura de Claude ou ChatGPT entrega resultados radicalmente diferentes dependendo de quem opera. A diferença não está na ferramenta, está na interface humana.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0558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1531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A PERGUNTA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305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"Me ajuda a melhorar essa prova?"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8224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CBD8F0"/>
                </a:solidFill>
                <a:latin typeface="Calibri"/>
              </a:rPr>
              <a:t>Resultado: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genérico, precisa de retrabalho antes de aplicar em sala.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00558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211531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O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35305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"Revise esta prova de Biologia do 2º ano: aponte questões ambíguas, verifique o nível de dificuldade e sugira uma questão sobre fotossíntese."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8224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CBD8F0"/>
                </a:solidFill>
                <a:latin typeface="Calibri"/>
              </a:rPr>
              <a:t>Resultado: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análise precisa, pronta para uso, em minutos.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39/121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Um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amplificador de expertise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Grupo 1, velocidade: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usa prompts só para fazer a mesma tarefa mais rápido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Grupo 2, inteligência: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entende por que certas estruturas de prompt funcionam melhor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85416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Engenharia de prompt não substitui o especialista — ela magnifica a competência de quem já domina o assunto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87752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2752344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Um professor que já sabe o que quer de uma prova traduz esse domínio em instrução clara — e extrai um resultado muito mais preciso da 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40/121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Princípios,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não truques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Tratar engenharia de prompt como fórmulas para decorar é superficial. Quem entende por que certas estruturas funcionam se adapta a situações novas.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BD8F0"/>
                </a:solidFill>
                <a:latin typeface="Calibri"/>
              </a:rPr>
              <a:t>Efeito colateral:</a:t>
            </a:r>
            <a:r>
              <a:rPr sz="1250" b="0" i="0">
                <a:solidFill>
                  <a:srgbClr val="CBD8F0"/>
                </a:solidFill>
                <a:latin typeface="Calibri"/>
              </a:rPr>
              <a:t> dar boas instruções exige clareza — e essa clareza transborda para outras situações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Os modelos evoluem rápido: quem aprendeu só truques para uma versão fica obsoleto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41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954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Empresas buscam cada vez mais adaptabilidade, não apenas competência técnica pontual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41/121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28632" cy="883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F8FF"/>
                </a:solidFill>
                <a:latin typeface="Calibri"/>
              </a:rPr>
              <a:t>Engenharia de prompt não é terceirizar o pensamento para a máquina — é construir uma </a:t>
            </a:r>
            <a:r>
              <a:rPr sz="2400" b="1" i="0">
                <a:solidFill>
                  <a:srgbClr val="6FF2FF"/>
                </a:solidFill>
                <a:latin typeface="Calibri"/>
              </a:rPr>
              <a:t>interface eficiente</a:t>
            </a:r>
            <a:r>
              <a:rPr sz="2400" b="1" i="0">
                <a:solidFill>
                  <a:srgbClr val="F4F8FF"/>
                </a:solidFill>
                <a:latin typeface="Calibri"/>
              </a:rPr>
              <a:t> entre a sua inteligência e uma ferramenta poderosa.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6543" y="2209800"/>
            <a:ext cx="8046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BD8F0"/>
                </a:solidFill>
                <a:latin typeface="Calibri"/>
              </a:rPr>
              <a:t>Você continua responsável pela qualidade final, pela verificação e pelo julgamento profissional. O modelo amplifica tanto a competência quanto a incompetência de quem o opera.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1/10 · Módulo 2 — O que é engenharia de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42/121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Anatomia de um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prompt eficaz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Um prompt eficaz não é um pedido mais longo, é um pedido estruturado. Cinco elementos transformam uma solicitação vaga em uma instrução precisa.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460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604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01 ·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50364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Quem fala. Define o tom, o repertório e a especialidade que o modelo assume.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78460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87604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02 ·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2150364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 cenário, o objetivo e os dados reais da situação.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784604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876044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03 · Instrução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2150364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 que fazer — a ação principal e direta esperada do modelo.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34996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643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04 · Restrição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00756"/>
            <a:ext cx="3454298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Os limites: o que não fazer, que regras respeitar.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8698" y="2634996"/>
            <a:ext cx="3454298" cy="18288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8698" y="272643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6FF2FF"/>
                </a:solidFill>
                <a:latin typeface="Calibri"/>
              </a:rPr>
              <a:t>05 · 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3000756"/>
            <a:ext cx="345429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O formato de entrega esperado: texto, tabela, tópicos, roteiro, JSON.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43/121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Amador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x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Aplicado à rotina docente no ensino superior — mesmo pedido, estrutura diferente.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460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433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A PERGUNTA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207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"Crie uma questão de prova sobre controle de constitucionalidade."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1260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CBD8F0"/>
                </a:solidFill>
                <a:latin typeface="Calibri"/>
              </a:rPr>
              <a:t>Resultado:</a:t>
            </a:r>
            <a:r>
              <a:rPr sz="1100" b="0" i="0">
                <a:solidFill>
                  <a:srgbClr val="CBD8F0"/>
                </a:solidFill>
                <a:latin typeface="Calibri"/>
              </a:rPr>
              <a:t> genérico — o tipo de questão de qualquer banco pronto, sem relação com o que foi discutido em aula.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8460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89433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O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13207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5 elementos 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46126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Persona, contexto, instrução, restrição e saída, todos definidos com precisão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44/121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briefing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973580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PROFISSIONAL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6FF2FF"/>
                </a:solidFill>
                <a:latin typeface="Calibri"/>
              </a:rPr>
              <a:t>01 PERSONA  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Atue como um professor de Direito Constitucional com experiência em avaliações que exigem raciocínio jurídico aplicado.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6FF2FF"/>
                </a:solidFill>
                <a:latin typeface="Calibri"/>
              </a:rPr>
              <a:t>02 CONTEXTO  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Turma do 5º semestre, já estudou controle difuso e concentrado e discutiu um julgado do STF sobre o 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4449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6FF2FF"/>
                </a:solidFill>
                <a:latin typeface="Calibri"/>
              </a:rPr>
              <a:t>03 INSTRUÇÃO  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Elabore uma questão discursiva com caso hipotético inédito, pedindo para identificar o tipo de controle e justificar.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7771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6FF2FF"/>
                </a:solidFill>
                <a:latin typeface="Calibri"/>
              </a:rPr>
              <a:t>04 RESTRIÇÃO  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Não repetir o caso discutido em aula. Enunciado com no máximo 15 linhas.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51047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6FF2FF"/>
                </a:solidFill>
                <a:latin typeface="Calibri"/>
              </a:rPr>
              <a:t>05 SAÍDA  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Enunciado da questão + gabarito comentado com os pontos de uma resposta nota máxima.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73780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01795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7611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Questão pronta para compor a prova, alinhada ao que foi ensinado, com gabarito que já orienta a correção.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45/121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 analogia do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funcionário recém-contratado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Pense na IA como uma pessoa extremamente capaz, mas no primeiro dia de trabalho: não conhece a cultura da instituição, só faz exatamente o que for instruída a fazer — só que entrega em segundos o que uma pessoa levaria horas para produzir.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5584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Se a instrução for vaga, o resultado também é vago, só que mais rápido. Se a instrução for clara e completa, o resultado reflete essa clareza, amplificada pela velocidade.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46/121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Os 5 elementos,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aplicados a esse funcionário novo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35608"/>
          <a:ext cx="1091153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Elemento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O que você diria a um funcionário novo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Persona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"Você vai atuar como professor sênior desta disciplina, não um estagiário genérico."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Contexto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"Aqui está o histórico: o que a turma já viu, o nível dela, o que já foi discutido."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Instrução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"A tarefa de hoje é especificamente esta, não uma tarefa parecida qualquer."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Restrição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"Estes são os limites: o que não pode fazer, o padrão da instituição."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Saída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"Eu preciso receber isso neste formato específico, pronto para eu usar."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47/121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28632" cy="883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F8FF"/>
                </a:solidFill>
                <a:latin typeface="Calibri"/>
              </a:rPr>
              <a:t>A régua não é </a:t>
            </a:r>
            <a:r>
              <a:rPr sz="2400" b="1" i="0">
                <a:solidFill>
                  <a:srgbClr val="6FF2FF"/>
                </a:solidFill>
                <a:latin typeface="Calibri"/>
              </a:rPr>
              <a:t>"a IA não é boa o suficiente"</a:t>
            </a:r>
            <a:r>
              <a:rPr sz="2400" b="1" i="0">
                <a:solidFill>
                  <a:srgbClr val="F4F8FF"/>
                </a:solidFill>
                <a:latin typeface="Calibri"/>
              </a:rPr>
              <a:t> — é "que instrução eu daria a um funcionário novo para conseguir esse resultado?"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6543" y="2209800"/>
            <a:ext cx="8046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BD8F0"/>
                </a:solidFill>
                <a:latin typeface="Calibri"/>
              </a:rPr>
              <a:t>Os cinco elementos são um checklist, não uma fórmula fixa: quanto mais específico o resultado esperado, mais deles vale a pena tornar explícitos.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2/10 · Módulo 2 — Anatomia de um prompt eficaz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48/121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Modelos de linguagem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não pensam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Eles não têm consciência, não raciocinam e não "entendem" no sentido em que uma pessoa entende. Alucinação não é um fenômeno cognitivo — é comportamento matemático previsível.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05584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15312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Tokenização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4496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Computadores processam números, não palavras. Palavras comuns viram 1 token; palavras raras se quebram em vários.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005584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115312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444496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Cada token vira um vetor. Conceitos relacionados ficam matematicamente próximos — é o que permite busca semântica.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49/121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Atenção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e previsão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Mecanismo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 modelo processa a frase inteira de uma vez e calcula o peso de cada palavra em relação às outras — conecta um pronome a um nome citado frases antes.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54533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Previsão e temperatura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874519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 modelo prevê a próxima palavra mais provável. Temperatura baixa = precisão; para dados institucionais, o mais seguro é temperatura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50/121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problema da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alucinação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Plausibilidade não é verdade. Em um "vazio de dados", o modelo não responde "não sei" — ele gera a continuação estatisticamente mais coerente, com a mesma confiança de uma informação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0558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05584"/>
            <a:ext cx="54864" cy="5928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17017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Dois casos reais mostram como isso vira risco concreto — e caro.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51/121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Caso real: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Fevereiro de 2024 — o chatbot da empresa informou incorretamente a um passageiro sobre uma tarifa de luto retroativa.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O erro do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Informou que a tarifa de luto podia ser solicitada de forma retroativa.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 defesa da empresa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25344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Argumentou que não era responsável pelo que o chatbot disse.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 decisão do tribunal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25344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Rejeitou o argumento e condenou a empresa a pagar os danos.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5996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E4CBFF"/>
                </a:solidFill>
                <a:latin typeface="Calibri"/>
              </a:rPr>
              <a:t>Responsável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46348"/>
            <a:ext cx="10911535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a empresa por toda informação do site — inclusive a do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52/121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Caso real: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Mata vs. Avianca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2023 — um advogado usou o ChatGPT para preparar uma petição.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 petição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 IA inventou seis casos jurídicos inteiros, com juízes e citações que pareciam legítimas.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 "verificação"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253441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Desconfiado, o advogado perguntou à própria IA se os casos eram reais.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84604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7846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260092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A confirmação alucinada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316" y="253441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 IA confirmou que sim — também de forma alucinada.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5996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E4CBFF"/>
                </a:solidFill>
                <a:latin typeface="Calibri"/>
              </a:rPr>
              <a:t>US$ 5 mil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46348"/>
            <a:ext cx="10911535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de multa aplicada ao advogado pelo tribunal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52671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52671"/>
            <a:ext cx="54864" cy="5928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4017263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Perguntar para a mesma IA se ela está certa não é verificação — ela pode alucinar a confirmação com a mesma facilidade com que alucinou o erro original.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53/121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 solução: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Retrieval-Augmented Generation: em vez de pedir para o modelo "lembrar" do treinamento, injeta-se o documento de referência diretamente no contexto da conversa.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05584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1531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SEM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305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Prova de livro fechado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8224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 modelo confia só na memória do treinamento — chance de erro alta.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005584"/>
            <a:ext cx="5318607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211531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4CBFF"/>
                </a:solidFill>
                <a:latin typeface="Calibri"/>
              </a:rPr>
              <a:t>COM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35305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Prova de livro aberto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8224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 modelo consulta a fonte que você forneceu — chance de erro baixa.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54/121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Três diretrizes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operacionais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RAG antes de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conhecimento institucional específico, use documentos anexados/Projects — não dependa da memória do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Chain of thought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Peça para o modelo "pensar passo a passo" em vez da resposta final direto — reduz erros.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4CB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Fundamentação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Temperatura zero para precisão, referência obrigatória a documentos, e sempre um humano validando.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55/121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Para escrever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prompts melhores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Coloque a instrução mais importante no início ou no fim do prompt, não no meio de um parágrafo longo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Em tarefas complexas, deixe o modelo "raciocinar" antes de responder, em vez de pedir só a resposta 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85416"/>
            <a:ext cx="82296" cy="8229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Não espere que o modelo repita, palavra por palavra, o mesmo resultado em duas tentativas — mesmo com prompt idêntico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3/10 · Módulo 2 — Como os modelos processam e geram respostas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56/121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Zero-shot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Few-shot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ZERO-SHOT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Só a instrução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Sem nenhum exemplo de como a resposta deve ficar. Funciona bem para tarefas simples.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89632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CBD8F0"/>
                </a:solidFill>
                <a:latin typeface="Calibri"/>
              </a:rPr>
              <a:t>"Resuma este artigo em três frases."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35608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545336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FEW-SHOT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Instrução + exemplos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112264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De 2 a 5 exemplos de entrada e saída antes do caso novo — quando o formato ou critério é difícil de descrever só com palavras.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13303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13303"/>
            <a:ext cx="54864" cy="592836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2977895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Alerta técnico: modelos de raciocínio mais recentes (família O da OpenAI) recomendam começar com zero-shot — exemplos podem atrapalhar mais do que ajudar.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· Módulo 2 — Zero-shot e Few-shot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57/121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5 modelos de few-shot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a rotina docente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1. Correção de redação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Exemplos de trecho + comentário, para repetir o padrão em um caso novo.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2. Classificação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74519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Rótulos para triar rapidamente um grande volume de dúvidas por tipo.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3. Reescrita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74519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Normaliza um texto para outro nível de linguagem, sem alterar o sentido.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8412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9384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4. Resumo estruturado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303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Formato fixo: resumo, pontos-chave e relevância para a disciplina.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48412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259384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5. Perguntas de esclarecimento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2923032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Se o pedido for ambíguo, a IA faz até 3 perguntas antes de responder.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· Módulo 2 — Zero-shot e Few-shot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58/121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1: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correção de redação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670304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FEW-SHOT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Você é um assistente que corrige redações seguindo meus critérios. Exemplos: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F4F8FF"/>
                </a:solidFill>
                <a:latin typeface="Calibri"/>
              </a:rPr>
              <a:t>Trecho: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"O aluno demonstra domínio do tema mas erra na concordância verbal." → </a:t>
            </a:r>
            <a:r>
              <a:rPr sz="1150" b="0" i="1">
                <a:solidFill>
                  <a:srgbClr val="F4F8FF"/>
                </a:solidFill>
                <a:latin typeface="Calibri"/>
              </a:rPr>
              <a:t>Comentário: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"Bom domínio de conteúdo. Atenção à concordância verbal."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4449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F4F8FF"/>
                </a:solidFill>
                <a:latin typeface="Calibri"/>
              </a:rPr>
              <a:t>Trecho: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"Argumentação rasa, sem exemplos concretos." → </a:t>
            </a:r>
            <a:r>
              <a:rPr sz="1150" b="0" i="1">
                <a:solidFill>
                  <a:srgbClr val="F4F8FF"/>
                </a:solidFill>
                <a:latin typeface="Calibri"/>
              </a:rPr>
              <a:t>Comentário: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"A argumentação precisa de exemplos concretos. Desenvolva com pelo menos um caso real."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7771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Agora comente o trecho que vou te enviar, no mesmo padrão.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70504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398520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72840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Comentários no mesmo tom e critério, prontos para devolver ao aluno.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· Módulo 2 — Zero-shot e 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59/121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2: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classificação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670304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FEW-SHOT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Classifique a dúvida do aluno em apenas uma categoria: CONCEITUAL, CÁLCULO ou INTERPRETAÇÃO. Responda só com o rótulo. Exemplos: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F4F8FF"/>
                </a:solidFill>
                <a:latin typeface="Calibri"/>
              </a:rPr>
              <a:t>Dúvida: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"Não entendi por que a fórmula muda quando o sistema não é isolado." → </a:t>
            </a:r>
            <a:r>
              <a:rPr sz="1150" b="0" i="1">
                <a:solidFill>
                  <a:srgbClr val="F4F8FF"/>
                </a:solidFill>
                <a:latin typeface="Calibri"/>
              </a:rPr>
              <a:t>Rótulo: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CONCEITUAL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4449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F4F8FF"/>
                </a:solidFill>
                <a:latin typeface="Calibri"/>
              </a:rPr>
              <a:t>Dúvida: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"Errei a conta na letra b, mas não sei onde." → </a:t>
            </a:r>
            <a:r>
              <a:rPr sz="1150" b="0" i="1">
                <a:solidFill>
                  <a:srgbClr val="F4F8FF"/>
                </a:solidFill>
                <a:latin typeface="Calibri"/>
              </a:rPr>
              <a:t>Rótulo:</a:t>
            </a:r>
            <a:r>
              <a:rPr sz="1150" b="0" i="0">
                <a:solidFill>
                  <a:srgbClr val="F4F8FF"/>
                </a:solidFill>
                <a:latin typeface="Calibri"/>
              </a:rPr>
              <a:t> CÁLCULO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7771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Agora classifique a dúvida que vou te enviar.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70504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398520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72840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Útil para triar rapidamente um grande volume de perguntas por tipo, antes de responder cada uma.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4/10 · Módulo 2 — Zero-shot e 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60/121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Por que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"pensar passo a passo"</a:t>
            </a:r>
            <a:r>
              <a:rPr sz="2600" b="1" i="0">
                <a:solidFill>
                  <a:srgbClr val="F4F8FF"/>
                </a:solidFill>
                <a:latin typeface="Calibri"/>
              </a:rPr>
              <a:t> muda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geração de uma resposta é sequencial: cada token novo é escolhido considerando tudo que veio antes, incluindo o que o próprio modelo já escreveu.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7833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Ao pedir para o modelo expor o raciocínio antes da conclusão, esse raciocínio passa a influenciar as frases seguintes — reduzindo a chance de uma resposta rasa ou precipitada.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· Módulo 2 — Chain-of-thought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61/121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5 fórmulas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decisões da rotina docente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1. Quebra estruturada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decisões pedagógicas com prós e contras a pesar.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2. Cadeia de raciocínio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um aluno específico, sem solução óbvia.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3. Framework de análise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revisar algo estrutural da disciplina.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4. Protocolo de diagnóstico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investigar um erro recorrente da turma.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5. Matriz de decisão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escolher entre opções concretas.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· Módulo 2 — 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62/121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Fórmula 1: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 quebra estruturada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063752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Estou pensando em substituir a prova final por um projeto prático nesta disciplina. Divida isso passo a passo: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1. Vantagens pedagógicas · 2. Riscos e desafios de implementação · 3. Como isso afetaria os critérios de avaliação · 4. Recomendação final, considerando o perfil da turma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6395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79196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66287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Uma análise estruturada, com recomendação final justificada — não só uma opinião solta.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· Módulo 2 — Chain-of-thought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63/121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Fórmula 4: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o protocolo de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063752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Nas últimas três provas, a maioria da turma errou a mesma questão sobre [conceito]. Faça o diagnóstico de forma sistemática: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Desempenho esperado vs. real · Em que ponto o erro acontece · Causas mais prováveis · Correção mais eficiente agora · Como evitar nas próximas turmas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6395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79196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66287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Diagnóstico consolidado, indo além do sintoma até a causa raiz do erro recorrente.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· Módulo 2 — Chain-of-thought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64/121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Fórmula 5: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 matriz de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063752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Preciso decidir qual ferramenta de IA recomendar ao meu departamento. Avalie essa decisão assim: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Liste as opções realistas (Claude, ChatGPT, Gemini) · Defina critérios de sucesso · Pontue cada opção · Identifique riscos · Faça uma recomendação com justificativa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6395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79196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66287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Recomendação justificada por critério, não por preferência pessoal — conecta com o Tópico 4 do Módulo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5/10 · Módulo 2 — Chain-of-thought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65/121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Role prompting: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o que é e por que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Atribuir um papel (persona) à IA antes de pedir a tarefa não é decoração: o modelo foi treinado em textos de especialistas de diferentes áreas, e definir o papel direciona a resposta para aquele vocabulário e conhecimento.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0558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0558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17017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Quanto mais específico o papel — não "especialista", e sim "avaliador de banca examinadora especializado em argumentação" — melhor o resultado.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· Módulo 2 — Role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66/121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Papéis por tipo de tarefa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(parte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3198266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"Professor sênior... anos de experiência em ensinar [tema]"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9948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4624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"Designer instrucional... domínio de andragogia"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4696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92096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"Especialista em diferenciação pedagógica"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4730" y="1435608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"Avaliador de banca... rigoroso, mas justo"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698" y="183794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1783080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"Professor especializado em rubricas de correção"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85416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4730" y="2130552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"Revisor de redação acadêmica... norma culta"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316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3348" y="1435608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"Orientador de TCC... delimitar o problema"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183794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3348" y="1783080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"Metodologista... qualitativo ou quantitativo"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7316" y="2185416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3348" y="2130552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"Peer reviewer... consistência metodológica"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· Módulo 2 — Role prompting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67/121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Papéis por tipo de tarefa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(parte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3198266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"Orientador acadêmico... sinais precoces de dificuldade"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9948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4624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"Mentor de iniciação científica"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1435608"/>
            <a:ext cx="3198266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"Coordenador de curso... Diretrizes Curriculares Nacionais"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199948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4730" y="1944624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"Membro do NDE... coerência entre ementas e PPC"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49047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3348" y="1435608"/>
            <a:ext cx="3198266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"Especialista em apresentações... clara e objetiva"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199948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3348" y="1944624"/>
            <a:ext cx="3198266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"Especialista em divulgação científica"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· Módulo 2 — Role prompting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68/121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Combinando com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o que já vimos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Um papel bem definido funciona ainda melhor combinado com a anatomia do prompt (Tópico 2) e com few-shot (Tópico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Persona é só o primeiro dos cinco elementos. Dar exemplos de resposta dentro daquele papel específico reduz ainda mais a chance de uma resposta genérica.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6/10 · Módulo 2 — Role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69/121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Decomposição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x chain-of-thought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As duas técnicas se parecem, mas resolvem problemas diferentes.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460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433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CHAIN-OF-THOUGHT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207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Uma única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1260"/>
            <a:ext cx="5318607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Pede um raciocínio passo a passo dentro de uma decisão pontual que exige cuidado.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84604"/>
            <a:ext cx="5318607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894332"/>
            <a:ext cx="53186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DECOMPOSIÇÃO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132076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Várias partes, resolvidas separadamente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461260"/>
            <a:ext cx="53186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Quebra um problema grande demais em partes menores, usando o resultado de uma etapa como insumo da próxima.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· Módulo 2 — Decomposição de tarefas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70/121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6 modelos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a rotina docente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1. Quebrar antes de executar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tarefa de tamanho médio, com etapas não óbvias de antemão.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2. Pensamento estruturado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investigar um problema antes de agir.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3. Decisões estratégicas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uma escolha pedagógica com vários critérios em jogo.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4. Projetos grandes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reformular uma disciplina inteira, em 5 fases.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5. Versão simples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qualquer tarefa volumosa, sem preparo prévio de etapas.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7316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7316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Extra · Consultor sênior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uma decisão estratégica de coordenação.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· Módulo 2 — Decomposição de tarefas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71/121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4: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projetos grandes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367028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DECOMPOSIÇÃO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Quero reformular por completo a ementa desta disciplina, desatualizada em relação às Diretrizes Curriculares Nacionais. Antes de montar o plano, decomponha em: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1. Diagnóstico · 2. Planejamento · 3. Execução · 4. Validação com o NDE e o PPC · 5. Otimização após o primeiro semestre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4449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Explique o que entra em cada fase. Depois detalhe o plano completo.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67228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09524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69564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Um plano de reformulação completo, fase por fase, em vez de uma lista solta de mudanças.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· Módulo 2 — Decomposição de 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72/121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5: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 versão mais simples e poderosa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DECOMPOSIÇÃO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Não entregue a solução direto. Primeiro divida o problema em partes menores. Depois resolva parte por parte. Só então consolide o resultado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60676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88692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3012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Correção por bloco de questões ou lote de provas, com critério estável do início ao fim.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77184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07536"/>
            <a:ext cx="10911535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do tempo de trabalho do professor brasileiro é gasto corrigindo provas, segundo a OCDE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· Módulo 2 — Decomposição de 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73/121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Extra: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o consultor sênior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9357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DECOMPOSIÇÃO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Atue como um consultor sênior em gestão acadêmica. Antes de responder, decomponha o problema usando raciocínio estruturado. Identifique variáveis, riscos e interdependências. Só então apresente a recomendação.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35936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63952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38272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Útil para decidir como o departamento deve se posicionar diante da diretriz de IA da instituição — conecta com o Tópico 5 do Módulo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7/10 · Módulo 2 — Decomposição de tarefas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74/121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8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Não existe prompt perfeito,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existe prompt refinado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própria OpenAI recomenda tratar a engenharia de prompt como um processo iterativo: começar, revisar, refinar com base no resultado.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946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460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Em vez de "melhore": </a:t>
            </a:r>
            <a:r>
              <a:rPr sz="1250" b="0" i="1">
                <a:solidFill>
                  <a:srgbClr val="CBD8F0"/>
                </a:solidFill>
                <a:latin typeface="Calibri"/>
              </a:rPr>
              <a:t>"está bom, mas encurte pela metade e tire o jargão técnico."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694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207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Em vez de reescrever tudo: </a:t>
            </a:r>
            <a:r>
              <a:rPr sz="1250" b="0" i="1">
                <a:solidFill>
                  <a:srgbClr val="CBD8F0"/>
                </a:solidFill>
                <a:latin typeface="Calibri"/>
              </a:rPr>
              <a:t>"mantenha a estrutura, só troque os exemplos por situações da turma."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· Módulo 2 — Prompts iterativos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75/121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8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 janela de contexto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trabalha a seu favor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 janela de contexto inclui toda a conversa — o que você escreveu e o que o modelo já respondeu.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O modelo "lembra" da versão anterior quando você pede um ajuste. Não é preciso reescrever o pedido inteiro a cada rodada — só apontar o que precisa mudar.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· Módulo 2 — Prompts iterativos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76/121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8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Evolução de um prompt,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"Explique regressão linear."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Resultado: genérico, sem relação com o curso.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+ público definido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Para alunos de Administração que já viram estatística descritiva. Resultado: mais direcionado, ainda abstrato.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+ exemplo e formato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Com exemplo de vendas de uma loja e analogia do dia a dia. Resultado: pronto para usar em aula.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· Módulo 2 — Prompts iterativos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77/121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8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Quando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parar de iterar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Refinar demais tem custo: cada rodada consome tempo, e o ganho marginal cai depressa depois de duas ou três iterações bem direcionadas.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7833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Tenha um critério claro do que "pronto" significa antes de começar a refinar — o formato de saída (Tópico 2) ajuda aqui. Quando o resultado já atende esse critério, mais uma rodada costuma valer menos que revisar manualmente o que falta.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8/10 · Módulo 2 — Prompts iterativos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78/121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9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é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ancoragem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Dar ao modelo um ponto de referência explícito para calibrar a resposta, em vez de deixá-lo flutuar livre com base só no treinamento geral. É a técnica que mais reduz o risco de alucinação.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05584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33600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SEM ANCORAGEM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07920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"Escreva um texto reflexivo sobre a importância da pesquisa científica."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3065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5866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32988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Correto, mas genérico — nada amarra a resposta à sua disciplina, turma ou objetivo.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· Módulo 2 — Grounding/ancoragem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79/121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9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Ancoragem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por escala de nível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ANCORAGEM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Em uma escala de 1 a 10, onde 10 é totalmente técnico e 1 é totalmente leigo, responda no nível 3. Explique o processo de revisão por pares em publicações científicas.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60676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88692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3012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Profundidade calibrada — útil para o mesmo conceito explicado em turmas de níveis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77184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77184"/>
            <a:ext cx="54864" cy="7833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541776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Recalibrando (conecta com prompts iterativos): "você entregou nível 3, refaça em nível 9" — a escala vira um critério objetivo de ajuste, em vez de um "aprofunde mais" vago.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· Módulo 2 — Grounding/ancoragem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80/121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9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Ancoragem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por fonte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ANCORAGEM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Com base SOMENTE no capítulo que anexei, responda: quais são os três principais argumentos do autor, e em que ponto do texto cada um aparece?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60676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88692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3012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A restrição "somente" impede o modelo de misturar o anexo com conhecimento geral do treinamento.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· Módulo 2 — Grounding/ancoragem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81/121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9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Ancoragem avançada: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fonte oficial e premissas explícitas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367028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ANCORAGEM AVANÇADA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Responda com base exclusivamente nas Diretrizes Curriculares Nacionais e no PPC que anexei. Antes de responder, liste as premissas que está assumindo. Estruture: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1219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1. O que a diretriz determina · 2. Por que essa exigência existe · 3. Como aplicar na minha ementa · 4. O que a diretriz não cobre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44495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Separe fato de interpretação. Se não encontrar base oficial, diga isso explicitamente — não preencha com suposições.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67228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09524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69564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O nível mais completo de ancoragem: restringe a fonte, expõe premissas, separa fato de interpretação e admite ausência de base em vez de alucinar.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9/10 · Módulo 2 — Grounding/ancoragem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82/121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10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simples,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o dia a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Pedir para o modelo verificar o próprio trabalho contra critérios explícitos antes de entregar a resposta final, e se autocorrigir quando algo não for atendido.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05584"/>
            <a:ext cx="10911535" cy="9357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33600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07920"/>
            <a:ext cx="10545775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Antes de responder, verifique se sua resposta está: 1. Correta · 2. Completa · 3. Clara para o meu aluno. Se encontrar problema, corrija e sinalize: Autocorreção: [o que mudou] / Versão corrigida: [resposta final]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591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23392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08248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Uma checagem rápida de qualidade antes de qualquer resposta virar material de aula.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· Módulo 2 — Validação e autocorreção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83/121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10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com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casos extremos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Para tarefas com cálculo — planilhas de nota, critérios de aprovação — onde um caso de borda esquecido vira um erro real na vida de um aluno.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9357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12620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86940"/>
            <a:ext cx="10545775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Você é um especialista em avaliação e cálculo de notas. Ao responder qualquer cálculo: 1. Gere a resposta · 2. Questione: "existe algum caso extremo que invalidaria isso?" (falta acima do limite, recuperação, arredondamento, empate) · 3. Se sim, corrija antes de entregar. Sempre inclua um aviso se houver premissa assumida.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4932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1294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87268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Cálculo revisado contra os casos de borda mais comuns antes de chegar ao aluno.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· Módulo 2 — Validação e autocorreção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84/121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10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Modelo completo,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para pareceres formais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9357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PROMPT DE 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37943"/>
            <a:ext cx="10545775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4F8FF"/>
                </a:solidFill>
                <a:latin typeface="Calibri"/>
              </a:rPr>
              <a:t>Antes de entregar qualquer resposta, execute obrigatoriamente: ETAPA 1 — gere a resposta inicial. ETAPA 2 — valide com checklist: precisão, completude, contexto acadêmico, risco, comunicação. Se algo estiver incompleto, vá para a ETAPA 3 — autocorrija e reapresente.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35936"/>
            <a:ext cx="10911535" cy="760476"/>
          </a:xfrm>
          <a:prstGeom prst="roundRect">
            <a:avLst>
              <a:gd name="adj" fmla="val 6000"/>
            </a:avLst>
          </a:prstGeom>
          <a:solidFill>
            <a:srgbClr val="080F24"/>
          </a:solidFill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63952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FF2FF"/>
                </a:solidFill>
                <a:latin typeface="Calibri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38272"/>
            <a:ext cx="10545775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Indicado para um parecer de caso disciplinar ou qualquer texto que vá circular fora do seu uso pessoal.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· Módulo 2 — Validação e autocorreção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85/121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 10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28632" cy="883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F8FF"/>
                </a:solidFill>
                <a:latin typeface="Calibri"/>
              </a:rPr>
              <a:t>Adicionar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"tem certeza?"</a:t>
            </a:r>
            <a:r>
              <a:rPr sz="2400" b="1" i="0">
                <a:solidFill>
                  <a:srgbClr val="F4F8FF"/>
                </a:solidFill>
                <a:latin typeface="Calibri"/>
              </a:rPr>
              <a:t> ao prompt tende a reduzir a confiança do modelo — e pode trocar uma resposta correta por uma incorreta.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6543" y="2209800"/>
            <a:ext cx="8046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BD8F0"/>
                </a:solidFill>
                <a:latin typeface="Calibri"/>
              </a:rPr>
              <a:t>O mesmo efeito de sicofania visto no Módulo 1. Validação funciona para completude, formato e clareza — não como garantia de verdade factual. Para isso, continua valendo ancoragem em fonte externa e revisão humana.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· Módulo 2 — Validação e autocorreção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86/121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 10 DE 10 · 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Fechando o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Módulo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0472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Começou pelo motor probabilístico e pela anatomia de um prompt eficaz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37944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Desenvolveu 6 técnicas práticas: zero/few-shot, chain-of-thought, role prompting, decomposição, prompts iterativos e ancoragem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85416"/>
            <a:ext cx="82296" cy="8229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Fechou com validação e autocorreção, e o limite real dessa técnica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87752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EE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4864" cy="78333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2752344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Essas dez peças formam um repertório que se aplica a qualquer plataforma e qualquer tarefa da rotina docente. O Módulo 3 parte daqui para transformar esse repertório em produtividade prática, com um portfólio de ferramentas organizado por tipo de tarefa.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10/10 · Módulo 2 — Validação e autocorreção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87/121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7731" y="1828800"/>
            <a:ext cx="1856231" cy="3657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7731" y="1828800"/>
            <a:ext cx="18562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MÓDULO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28632" cy="71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4F8FF"/>
                </a:solidFill>
                <a:latin typeface="Calibri"/>
              </a:rPr>
              <a:t>Módulo 3 · </a:t>
            </a:r>
            <a:r>
              <a:rPr sz="4000" b="1" i="0">
                <a:solidFill>
                  <a:srgbClr val="6FF2FF"/>
                </a:solidFill>
                <a:latin typeface="Calibri"/>
              </a:rPr>
              <a:t>Produtividade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33223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BD8F0"/>
                </a:solidFill>
                <a:latin typeface="Calibri"/>
              </a:rPr>
              <a:t>Um portfólio de ferramentas organizado por tipo de tarefa docente — para transformar o repertório dos Módulos 1 e 2 em produtividade prática do dia a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88/121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Onde o tempo do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professor realmente vai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Segundo a pesquisa TALIS 2024 da OCDE, preparação de aula e correção não são só tarefas importantes — são as que mais pesam na carga horária real de quem leciona.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5584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9,3h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por semana em preparação de aulas no Brasil (vs. 7,4h na média OCDE)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2005584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6,1h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2535936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por semana em correção de provas no Brasil (vs. 4,6h na média OCDE)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42260"/>
            <a:ext cx="1091153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As duas cargas cresceram desde 2018 — 2,2 horas e 1,5 hora a mais, respectivamente.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89/121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Brasil já usa IA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mais que a média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dos professores brasileiros já usam IA na rotina (vs. 36% na média OCDE)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435608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10º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965960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lugar do Brasil no ranking global de adoção de IA docente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2284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Mas o uso está concentrado em algumas tarefas específicas — não distribuído de forma equilibrada.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90/121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Uso concentrado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em poucas tarefas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77%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522143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criam planos de aula ou atividades com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543" y="1435608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543" y="1965960"/>
            <a:ext cx="2522143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ajustam a dificuldade de materiais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435608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965960"/>
            <a:ext cx="2522143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resumem ou aprendem um tópico rapidamente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71" y="1435608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471" y="1965960"/>
            <a:ext cx="2522143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usam IA na correção — a 2ª maior carga de tempo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7228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27228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243687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39% dos professores brasileiros dizem ainda precisar de capacitação para aplicar IA de forma pedagógica — exatamente a lacuna que este curso busca preencher.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91/121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Como identificar uma tarefa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com alto potencial de ganho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Volume e repetição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Tarefas que se repetem várias vezes por semana ou semestre multiplicam qualquer ganho de tempo.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Estrutura reconhecível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Tarefas com formato previsível são mais fáceis de instruir bem — anatomia do prompt e few-shot (Módulo 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1911095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Tempo desproporcional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316" y="2185415"/>
            <a:ext cx="3454298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Tarefas de execução, não de decisão pedagógica, têm o maior retorno quando delegadas.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92/121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Mapeamento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por categoria de tarefa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35608"/>
          <a:ext cx="1091153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Categoria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Exemplo de tarefa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6FF2FF"/>
                          </a:solidFill>
                          <a:latin typeface="Calibri"/>
                        </a:defRPr>
                      </a:pPr>
                      <a:r>
                        <a:t>Potencial de ganho</a:t>
                      </a:r>
                    </a:p>
                  </a:txBody>
                  <a:tcPr marT="76200" marB="76200" anchor="ctr">
                    <a:solidFill>
                      <a:srgbClr val="14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Preparação de aula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Planos de aula, slides, atividades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Alto — já é a mais explorada com IA no Brasil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Correção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Provas, trabalhos, devolutivas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Alto, porém pouco explorado ainda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Pesquisa acadêmica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Revisão de literatura, síntese de artigos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Alto, ganho mensurável em etapas iniciais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Orientação de alunos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Dúvidas recorrentes, acompanhamento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Médio, exige mais critério humano</a:t>
                      </a:r>
                    </a:p>
                  </a:txBody>
                  <a:tcPr marT="63500" marB="63500" anchor="ctr">
                    <a:solidFill>
                      <a:srgbClr val="0D1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F8FF"/>
                          </a:solidFill>
                          <a:latin typeface="Calibri"/>
                        </a:defRPr>
                      </a:pPr>
                      <a:r>
                        <a:t>Gestão administrativa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Atas, relatórios, formatação de documentos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BD8F0"/>
                          </a:solidFill>
                          <a:latin typeface="Calibri"/>
                        </a:defRPr>
                      </a:pPr>
                      <a:r>
                        <a:t>Alto, tarefa mais operacional que pedagógica</a:t>
                      </a:r>
                    </a:p>
                  </a:txBody>
                  <a:tcPr marT="63500" marB="63500" anchor="ctr">
                    <a:solidFill>
                      <a:srgbClr val="0A13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93/121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1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Para onde este módulo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vai a partir daqui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Os próximos cinco tópicos apresentam um portfólio de ferramentas organizado exatamente por essas categorias — para que a escolha parta do tipo de tarefa, não do contrário.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60448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5584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Pesquisa e busca de informação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7920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3056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Transcrição e resumo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55392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00528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Apresentações 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2864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47999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Organização e produtividade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50335"/>
            <a:ext cx="82296" cy="8229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395471"/>
            <a:ext cx="10655503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Apoio individualizado a alunos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1/8 · Módulo 3 — Mapeamento de tarefas docentes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94/121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Pesquisa e busca de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informação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Diferente de conversar com o Claude, o ChatGPT ou o Gemini de forma genérica, estas três ferramentas são construídas especificamente para buscar e sintetizar informação com fontes verificáveis.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0558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0558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17017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Em vez de gerar uma resposta só a partir do treinamento, elas consultam fontes reais em tempo real — reduzindo o risco de alucinação visto no Módulo 1 e no Módulo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2/8 · Módulo 3 — Pesquisa e busca de informação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95/121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Perplexity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Consensus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Perplexity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42944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Buscador conversacional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4916271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Pesquisa a web em tempo real e devolve uma resposta direta, com fontes numeradas e verificáveis. Versão gratuita robusta, sem necessidade de conta.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4916271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4550511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Levantar rapidamente o estado atual de um tema para atualizar uma aula.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49162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perplexity.ai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5318607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4175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sens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5" y="168249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55967" y="1636776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1874519"/>
            <a:ext cx="42944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Consenso científico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2258568"/>
            <a:ext cx="4916271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Motor de busca acadêmica com mais de 200 milhões de artigos revisados por pares. O "Consensus Meter" mostra o grau de consenso científico entre os estudos.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4175" y="2715768"/>
            <a:ext cx="4916271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34175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5343" y="2807208"/>
            <a:ext cx="4550511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Entender o que a produção científica diz sobre uma prática antes de adotá-la em disciplina.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179064"/>
            <a:ext cx="49162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consensus.app  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1435608"/>
            <a:ext cx="5318607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2/8 · Módulo 3 — Pesquisa e busca de informação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96/121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Elicit: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pesquisa acadêmica automatizada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l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Elicit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Assistente de revisão de literatura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Construído especificamente para literatura científica, com acesso a mais de 138 milhões de artigos e uma base de estudos clínicos. Encontra artigos relevantes, extrai dados estruturados (metodologia, amostra, resultados) e organiza tudo em tabelas comparáveis, sempre citando a fonte.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Fazer a triagem inicial de um volume grande de artigos para um TCC ou artigo, chegando a uma lista já organizada para leitura aprofundada.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elicit.com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2/8 · Módulo 3 — Pesquisa e busca de informação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97/121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2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Quando usar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cada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Pergunta geral, preciso de resposta rápida com fonte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9225" y="1435608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Perplexity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9384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mapear e organizar um volume grande de artigos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9225" y="1929384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Elicit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saber o que a ciência, em conjunto, diz sobre algo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225" y="2423160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Consensus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63240"/>
            <a:ext cx="54864" cy="7833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3227832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Nas três, vale o princípio da ancoragem (Módulo 2, Tópico 9): mesmo com fontes citadas, a leitura final da fonte original continua sendo responsabilidade do professor.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2/8 · Módulo 3 — Pesquisa e busca de informação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98/121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Transcrição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ponto em comum entre essas duas ferramentas é transformar conteúdo longo — uma aula gravada, uma reunião, uma pilha de artigos — em material organizado e consultável, sem reassistir ou reler tudo do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99/121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TL;DV: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gravação e resumo de reuniões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ld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TL;DV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Gravação, transcrição e resumo automático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Grava, transcreve e resume aulas, reuniões e bancas, com suporte a mais de 30 idiomas (incluindo português) e integração com Zoom, Google Meet e Microsoft Teams. Identifica quem falou cada trecho e permite recortar clipes compartilháveis. Plano gratuito com gravação e transcrição ilimitadas.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Gravar e transcrever uma banca de TCC, uma reunião de colegiado, ou a própria aula — gerando o registro e um resumo pronto dos encaminhamentos.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tldv.io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100/121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NotebookLM: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espaço de trabalho para fontes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tebooklm_r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NotebookLM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Organização de fontes de estudo e pesquisa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Funciona por notebook: você reúne documentos, artigos, anotações e até vídeos transcritos, e a ferramenta responde perguntas com citações numeradas, cada uma apontando o trecho exato da fonte original — mesmo princípio de ancoragem do Módulo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Reunir a bibliografia de uma disciplina em um notebook e gerar um guia de estudo, um podcast de revisão, ou identificar lacunas na orientação de um TCC.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notebooklm.google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101/121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o NotebookLM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gera a partir das fontes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Guia de estudo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Estruturado a partir das fontes reunidas.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Mapa 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Conectando os conceitos entre 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35608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7316" y="1545336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Flashcards e questionários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1874519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De múltipla escolha, para revisão.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Linha do tempo e tabela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Organizando dados extraídos das fontes.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316480"/>
            <a:ext cx="3454298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2426208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F8FF"/>
                </a:solidFill>
                <a:latin typeface="Calibri"/>
              </a:rPr>
              <a:t>Podcast em áudio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2755392"/>
            <a:ext cx="3454298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Já em português — explicativo ou debate entre duas vozes.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102/121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Uma ressalva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de 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856488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35608"/>
            <a:ext cx="54864" cy="856488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600200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O NotebookLM não deve receber documentos com dados sensíveis de alunos — o mesmo cuidado dos Tópicos 6 e 7 do Módulo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1863851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É uma ferramenta pensada para material de estudo e bibliografia, não para armazenar informação identificável de terceiros.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103/121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3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Quando usar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cada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registrar e resumir uma reunião, aula ou banca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9225" y="1435608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TL;DV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9384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organizar bibliografia e gerar produtos de revisão a partir dela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9225" y="1929384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3/8 · Módulo 3 — Transcrição e resumo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104/121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Apresentações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As três ferramentas resolvem o mesmo problema central: produzir material visual profissional sem exigir habilidade de design gráfico — especialmente relevante para quem produz slides de aula com frequência.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4/8 · Módulo 3 — Apresentações 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105/121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Gamma: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o rascunho mais rápido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Gamma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De texto a apresentação em segundos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Transforma um comando de texto em apresentação completa — estrutura, texto, layout e imagens — em segundos. Também converte PDFs, documentos do Word ou links em slides formatados. Interface em português, exporta para PowerPoint, PDF ou Google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Transformar um texto de aula já escrito, ou um capítulo de livro-texto, em um conjunto de slides para depois ajustar pedagogicamente.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gamma.app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4/8 · Módulo 3 — Apresentações 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106/121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Beautiful.ai: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consistência ao longo do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autiful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Beautiful.ai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Smart Slides com guardrails de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As "Smart Slides" ajustam automaticamente espaçamento e alinhamento à medida que o conteúdo é editado, mantendo a apresentação consistente mesmo quando reorganizada. Desde março de 2026 também funciona a partir de prompts e documentos. A exportação para PowerPoint pode exigir ajustes manuais.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Apresentações reaproveitadas e editadas ao longo de vários semestres, onde manter a consistência visual importa mais que a velocidade inicial.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beautiful.ai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4/8 · Módulo 3 — Apresentações 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107/121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Canva: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gratuito para a FISMA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Canva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Magic Design / Magic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Vai além de apresentações: é uma plataforma de design mais ampla, com o Magic Studio reunindo Magic Write (texto), Magic Design (layout automático) e Magic Media (imagens). O Canva for Education é gratuito para professores e libera boa parte desses recursos de IA sem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Além de slides, é a ferramenta mais indicada da categoria para outros materiais visuais: cartazes, infográficos, atividades ilustradas.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canva.com/education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4/8 · Módulo 3 — Apresentações 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108/121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4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Quando usar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cada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de um primeiro rascunho de slides, o mais rápido possível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9225" y="1435608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Gamma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9384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de uma apresentação reeditada ao longo do tempo, com consistência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9225" y="1929384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Beautiful.ai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de slides e outros materiais visuais, com acesso institucional gratuito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225" y="2423160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Canva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4/8 · Módulo 3 — Apresentações 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109/121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Organização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produtividade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As três ferramentas têm escalas bem diferentes entre si — de uma plataforma completa a utilitários pequenos e gratuitos — mas todas organizam informação dispersa em algo estruturado e reutilizável.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5/8 · Módulo 3 — Organização e produtividade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110/121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Notion AI: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uma plataforma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Notion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Agentes, busca e atas automáticas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Inclui agentes capazes de executar tarefas de várias etapas, busca com citação de fonte em todas as páginas do workspace, e geração automática de atas de reunião. A IA responde com base no que já está escrito no espaço de trabalho, sempre indicando de qual página tirou a informação.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Organizar em um único espaço o planejamento de todas as disciplinas de um semestre, com a IA cruzando informações de vários documentos.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notion.com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5/8 · Módulo 3 — Organização e produtividade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111/121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Mind Map Wizard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e Format Magic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dmap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8249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39" y="1636776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Mind Map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42944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Mapa mental instantâneo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4916271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Pequena, gratuita e sem cadastro: digite um tema ou cole um texto, e ela gera um mapa mental visual em segundos, exportável em diferentes formatos.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4916271" cy="4876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4876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4550511" cy="35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Transformar um capítulo de bibliografia em mapa mental para revisão dos alunos antes de uma prova.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31464"/>
            <a:ext cx="49162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mindmapwizard.com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5318607" cy="2353055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4175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ormat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5" y="168249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55967" y="1636776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Format Magic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1874519"/>
            <a:ext cx="42944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Formatação profissional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2258568"/>
            <a:ext cx="4916271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Cole um texto simples, escolha um modelo entre os templates disponíveis, e ela devolve um documento formatado profissionalmente, sem alterar o conteúdo original.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4175" y="2715768"/>
            <a:ext cx="4916271" cy="4876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34175" y="2715768"/>
            <a:ext cx="45720" cy="4876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5343" y="2807208"/>
            <a:ext cx="4550511" cy="35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Formatar um relatório para a coordenação ou um parecer, sem gastar tempo ajustando estilos manualmente.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331464"/>
            <a:ext cx="49162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formatmagic.ai  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1435608"/>
            <a:ext cx="5318607" cy="2353055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5/8 · Módulo 3 — Organização e produtividade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112/121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5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Quando usar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cada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de um espaço único para todo o planejamento de várias disciplinas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9225" y="1435608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Notion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9384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visualizar rapidamente a estrutura de um conteúdo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9225" y="1929384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Mind Map Wizard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0911535" cy="365760"/>
          </a:xfrm>
          <a:prstGeom prst="roundRect">
            <a:avLst>
              <a:gd name="adj" fmla="val 6000"/>
            </a:avLst>
          </a:prstGeom>
          <a:solidFill>
            <a:srgbClr val="0A1330"/>
          </a:solidFill>
          <a:ln w="9525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74198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BD8F0"/>
                </a:solidFill>
                <a:latin typeface="Calibri"/>
              </a:rPr>
              <a:t>Preciso só formatar um documento pronto, sem mexer no conteúdo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225" y="2423160"/>
            <a:ext cx="3055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Format Magic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5/8 · Módulo 3 — Organização e produtividade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113/121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Uma categoria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diferente das anteriores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As ferramentas anteriores apoiam o trabalho do professor. Esta é usada diretamente pelo aluno — o que muda a natureza da recomendação.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Aqui, o papel do professor não é operar a ferramenta — é decidir se, quando e como recomendá-la, e com que limites.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6/8 · Módulo 3 — Apoio individualizado a alunos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114/121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que a pesquisa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mostra sobre tutoria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2x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mais aprendizado, no mesmo tempo, com tutores de IA — estudo de física da Universidade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435608"/>
            <a:ext cx="5318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6FF2FF"/>
                </a:solidFill>
                <a:latin typeface="Calibri"/>
              </a:rPr>
              <a:t>~50%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965960"/>
            <a:ext cx="5318607" cy="205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8F0"/>
                </a:solidFill>
                <a:latin typeface="Calibri"/>
              </a:rPr>
              <a:t>de ganho de desempenho em outros levantamentos com apoio de IA personalizada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2284"/>
            <a:ext cx="1091153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BD8F0"/>
                </a:solidFill>
                <a:latin typeface="Calibri"/>
              </a:rPr>
              <a:t>O motivo é sempre o mesmo: a IA adapta a explicação ao ritmo de cada aluno e oferece disponibilidade constante — algo que um professor sozinho, com uma turma inteira, não tem como replicar individualmente.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6/8 · Módulo 3 — Apoio individualizado a 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115/121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6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TutorAI: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apoio individualizado de aprendizagem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36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36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TutorAI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1636776"/>
            <a:ext cx="9887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4F8FF"/>
                </a:solidFill>
                <a:latin typeface="Calibri"/>
              </a:rPr>
              <a:t>TutorAI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874519"/>
            <a:ext cx="98874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F2FF"/>
                </a:solidFill>
                <a:latin typeface="Calibri"/>
              </a:rPr>
              <a:t>Tutoria adaptativa e disponível a qualquer 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10509199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 i="0">
                <a:solidFill>
                  <a:srgbClr val="CBD8F0"/>
                </a:solidFill>
                <a:latin typeface="Calibri"/>
              </a:rPr>
              <a:t>Adapta o conteúdo ao ritmo e ao nível de conhecimento de quem pergunta, gera exemplos práticos contextualizados, e mantém um sistema de perguntas e respostas interativo para esclarecimento contínuo de dúvidas.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715768"/>
            <a:ext cx="10509199" cy="335280"/>
          </a:xfrm>
          <a:prstGeom prst="roundRect">
            <a:avLst>
              <a:gd name="adj" fmla="val 6000"/>
            </a:avLst>
          </a:prstGeom>
          <a:solidFill>
            <a:srgbClr val="11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2715768"/>
            <a:ext cx="45720" cy="33528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07208"/>
            <a:ext cx="10143439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4F8FF"/>
                </a:solidFill>
                <a:latin typeface="Calibri"/>
              </a:rPr>
              <a:t>Recomendar como apoio complementar para alunos que precisam de reforço fora do horário de atendimento, liberando o tempo do professor para dúvidas mais complexas.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79064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FF2FF"/>
                </a:solidFill>
                <a:latin typeface="Calibri"/>
              </a:rPr>
              <a:t>mytutorai.app 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35608"/>
            <a:ext cx="10911535" cy="22006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6/8 · Módulo 3 — Apoio individualizado a alunos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116/121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4CBFF"/>
                </a:solidFill>
                <a:latin typeface="Calibri"/>
              </a:rPr>
              <a:t>TÓPICO 6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O limite </a:t>
            </a:r>
            <a:r>
              <a:rPr sz="2600" b="1" i="0">
                <a:solidFill>
                  <a:srgbClr val="E4CBFF"/>
                </a:solidFill>
                <a:latin typeface="Calibri"/>
              </a:rPr>
              <a:t>importante desta categoria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10911535" cy="1046988"/>
          </a:xfrm>
          <a:prstGeom prst="roundRect">
            <a:avLst>
              <a:gd name="adj" fmla="val 6000"/>
            </a:avLst>
          </a:prstGeom>
          <a:solidFill>
            <a:srgbClr val="3A1414"/>
          </a:solidFill>
          <a:ln w="127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35608"/>
            <a:ext cx="54864" cy="1046988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600200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Se o problema do aluno é falta de motivação ou procrastinação, nenhuma ferramenta de IA substitui o acompanhamento humano — isso não é um problema de conteúdo, é um problema de relação e responsabilização.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054352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TutorAI, e ferramentas parecidas, funcionam bem como reforço de conteúdo — não como substituto da orientação e do vínculo que só o professor oferece.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6/8 · Módulo 3 — Apoio individualizado a alunos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117/121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Critério importa mais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que a lista de ferramentas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10911535" cy="266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4F8FF"/>
                </a:solidFill>
                <a:latin typeface="Calibri"/>
              </a:rPr>
              <a:t>O objetivo dos Tópicos 2 a 6 não foi decorar onze nomes de produtos — foi mapear categorias de tarefa e o tipo de ferramenta que resolve cada uma.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4604"/>
            <a:ext cx="10911535" cy="5928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4604"/>
            <a:ext cx="54864" cy="592836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49196"/>
            <a:ext cx="10271455" cy="236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O mesmo princípio do Módulo 1 (Tópico 4): o cenário de ferramentas muda rápido, produtos surgem e desaparecem. O que não muda é o critério para escolher entre elas.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7/8 · Módulo 3 — Critérios para seleção da ferramenta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118/121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Quatro critérios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práticos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Tipo de tarefa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5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Alto volume/repetição justifica aprender uma ferramenta nova; tarefa pontual, use algo simples e gratuito.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6543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6543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6543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Frequência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6543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Ferramentas pagas só compensam com uso recorrente ao longo do semestre.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Proteção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Nunca inserir dados identificáveis de alunos sem verificar a política de dados vigente.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471" y="1435608"/>
            <a:ext cx="365760" cy="3657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9471" y="14356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FF2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471" y="1911095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8FF"/>
                </a:solidFill>
                <a:latin typeface="Calibri"/>
              </a:rPr>
              <a:t>Integração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471" y="2185415"/>
            <a:ext cx="2522143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CBD8F0"/>
                </a:solidFill>
                <a:latin typeface="Calibri"/>
              </a:rPr>
              <a:t>Verifique se algo que já se usa (Workspace, 365, Claude, ChatGPT) já resolve a tarefa.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7/8 · Módulo 3 — Critérios para seleção da ferramenta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119/121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FF2FF"/>
                </a:solidFill>
                <a:latin typeface="Calibri"/>
              </a:rPr>
              <a:t>TÓPICO 7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Quadro-resumo </a:t>
            </a:r>
            <a:r>
              <a:rPr sz="2600" b="1" i="0">
                <a:solidFill>
                  <a:srgbClr val="6FF2FF"/>
                </a:solidFill>
                <a:latin typeface="Calibri"/>
              </a:rPr>
              <a:t>(parte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2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Pesquisa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55648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0704" y="1728216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Perplexity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911096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Buscar informação atualizada com fontes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107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li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381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0704" y="2110740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Elicit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293620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Revisão de literatura, triagem de artigos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93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sens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520696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2493264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Consensus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676144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Saber o consenso científico sobre um tema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698" y="143560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Transcrição e resumo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ld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130" y="1755648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89322" y="1728216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TL;DV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9322" y="1911096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Gravar e resumir aula, banca ou reunião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21107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otebooklm_ra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130" y="2138172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89322" y="2110740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NotebookLM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9322" y="2293620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Organizar bibliografia e gerar material de estudo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1435608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FF2FF"/>
                </a:solidFill>
                <a:latin typeface="Calibri"/>
              </a:rPr>
              <a:t>Apresentações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7316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am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748" y="1755648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17940" y="1728216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Gamma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7940" y="1911096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Slides de aula rápidos a partir de um texto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7316" y="21107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autiful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748" y="2138172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17940" y="2110740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Beautiful.ai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7940" y="2293620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Apresentação reeditada ao longo do tempo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7316" y="2493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anv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4748" y="2520696"/>
            <a:ext cx="219456" cy="21945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17940" y="2493264"/>
            <a:ext cx="30336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Canva for Education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7940" y="2676144"/>
            <a:ext cx="3033674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Slides e materiais visuais, acesso institucional gratuito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7/8 · Módulo 3 — Critérios para seleção da ferramenta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120/121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A18"/>
            </a:gs>
            <a:gs pos="100000">
              <a:srgbClr val="0A1330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 7 DE 8 · 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F4F8FF"/>
                </a:solidFill>
                <a:latin typeface="Calibri"/>
              </a:rPr>
              <a:t>Quadro-resumo 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(parte 2) e lembrete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1005840" cy="27432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186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Organização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55648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0704" y="1728216"/>
            <a:ext cx="48979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Notion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911096"/>
            <a:ext cx="4897983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Organizar planejamento de várias disciplinas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107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indmap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381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0704" y="2110740"/>
            <a:ext cx="48979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Mind Map Wizard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293620"/>
            <a:ext cx="4897983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Visualizar a estrutura de um conteúdo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93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rmatma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520696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2493264"/>
            <a:ext cx="48979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Format Magic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676144"/>
            <a:ext cx="4897983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Formatar um documento pronto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1435608"/>
            <a:ext cx="53186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Apoio a alunos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B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17282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50" b="1" i="0">
                <a:solidFill>
                  <a:srgbClr val="FFFFFF"/>
                </a:solidFill>
                <a:latin typeface="Calibri"/>
              </a:rPr>
              <a:t>T·AI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3631" y="1728216"/>
            <a:ext cx="48979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4F8FF"/>
                </a:solidFill>
                <a:latin typeface="Calibri"/>
              </a:rPr>
              <a:t>TutorAI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3631" y="1911096"/>
            <a:ext cx="4897983" cy="291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BD8F0"/>
                </a:solidFill>
                <a:latin typeface="Calibri"/>
              </a:rPr>
              <a:t>Reforço de conteúdo fora do horário de aula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22092"/>
            <a:ext cx="10911535" cy="783336"/>
          </a:xfrm>
          <a:prstGeom prst="roundRect">
            <a:avLst>
              <a:gd name="adj" fmla="val 6000"/>
            </a:avLst>
          </a:prstGeom>
          <a:solidFill>
            <a:srgbClr val="0D1940"/>
          </a:solidFill>
          <a:ln w="12700">
            <a:solidFill>
              <a:srgbClr val="EE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022092"/>
            <a:ext cx="54864" cy="783336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3186684"/>
            <a:ext cx="10271455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4F8FF"/>
                </a:solidFill>
                <a:latin typeface="Calibri"/>
              </a:rPr>
              <a:t>Nenhuma dessas ferramentas substitui os cuidados já trabalhados neste curso: verificação de fonte (Módulo 1), ancoragem (Módulo 2), revisão humana antes de qualquer material chegar ao aluno. Elas são um complemento, não um atalho para pular essas etapas.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7/8 · Módulo 3 — Critérios para seleção da ferramenta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FA3C9"/>
                </a:solidFill>
                <a:latin typeface="Calibri"/>
              </a:rPr>
              <a:t>121/121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